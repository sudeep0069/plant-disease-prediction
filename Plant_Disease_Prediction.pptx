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4" r:id="rId10"/>
    <p:sldId id="263" r:id="rId11"/>
    <p:sldId id="265" r:id="rId12"/>
  </p:sldIdLst>
  <p:sldSz cx="9144000" cy="5143500" type="screen16x9"/>
  <p:notesSz cx="5143500" cy="9144000"/>
  <p:embeddedFontLst>
    <p:embeddedFont>
      <p:font typeface="Agency FB" panose="020B0503020202020204" pitchFamily="34" charset="0"/>
      <p:regular r:id="rId14"/>
      <p:bold r:id="rId15"/>
    </p:embeddedFont>
    <p:embeddedFont>
      <p:font typeface="Open Sans" panose="020B0606030504020204" pitchFamily="34" charset="0"/>
      <p:regular r:id="rId16"/>
      <p:bold r:id="rId17"/>
    </p:embeddedFont>
    <p:embeddedFont>
      <p:font typeface="Trebuchet MS" panose="020B0603020202020204" pitchFamily="34" charset="0"/>
      <p:regular r:id="rId18"/>
      <p:bold r:id="rId19"/>
      <p:italic r:id="rId20"/>
      <p:boldItalic r:id="rId21"/>
    </p:embeddedFont>
    <p:embeddedFont>
      <p:font typeface="Unbounded Bold" panose="020B0604020202020204" charset="0"/>
      <p:regular r:id="rId22"/>
    </p:embeddedFont>
    <p:embeddedFont>
      <p:font typeface="Unbounded Light"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89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3896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F5EE"/>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F5EE"/>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9144000" cy="51435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280293"/>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Plant Disease Detection using Machine Learning</a:t>
            </a:r>
            <a:endParaRPr lang="en-US" sz="2750" dirty="0"/>
          </a:p>
        </p:txBody>
      </p:sp>
      <p:sp>
        <p:nvSpPr>
          <p:cNvPr id="4" name="Text 1"/>
          <p:cNvSpPr/>
          <p:nvPr/>
        </p:nvSpPr>
        <p:spPr>
          <a:xfrm>
            <a:off x="3925119" y="2704876"/>
            <a:ext cx="4722763" cy="1736974"/>
          </a:xfrm>
          <a:prstGeom prst="rect">
            <a:avLst/>
          </a:prstGeom>
          <a:noFill/>
          <a:ln/>
        </p:spPr>
        <p:txBody>
          <a:bodyPr wrap="square" lIns="0" tIns="0" rIns="0" bIns="0" rtlCol="0" anchor="t"/>
          <a:lstStyle/>
          <a:p>
            <a:pPr marL="0" indent="0" algn="l">
              <a:lnSpc>
                <a:spcPct val="133000"/>
              </a:lnSpc>
              <a:spcAft>
                <a:spcPts val="1250"/>
              </a:spcAft>
              <a:buNone/>
            </a:pPr>
            <a:r>
              <a:rPr lang="en-US" sz="1100" dirty="0">
                <a:solidFill>
                  <a:srgbClr val="333F70"/>
                </a:solidFill>
                <a:latin typeface="Open Sans" pitchFamily="34" charset="0"/>
                <a:ea typeface="Open Sans" pitchFamily="34" charset="-122"/>
                <a:cs typeface="Open Sans" pitchFamily="34" charset="-120"/>
              </a:rPr>
              <a:t> MCA Major Project (CA - 481)</a:t>
            </a:r>
            <a:endParaRPr lang="en-US" sz="1100" dirty="0"/>
          </a:p>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Members : Sudeep Sarkar (Roll: 120710242085) </a:t>
            </a:r>
          </a:p>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                    Vishal Chandra (Roll: 120710242092)</a:t>
            </a:r>
          </a:p>
          <a:p>
            <a:pPr marL="0" indent="0" algn="l">
              <a:lnSpc>
                <a:spcPct val="133000"/>
              </a:lnSpc>
              <a:buNone/>
            </a:pPr>
            <a:endParaRPr lang="en-US" sz="1100" dirty="0">
              <a:solidFill>
                <a:srgbClr val="333F70"/>
              </a:solidFill>
              <a:latin typeface="Open Sans" pitchFamily="34" charset="0"/>
              <a:ea typeface="Open Sans" pitchFamily="34" charset="-122"/>
              <a:cs typeface="Open Sans" pitchFamily="34" charset="-120"/>
            </a:endParaRPr>
          </a:p>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Under the Guidance of : Prof. </a:t>
            </a:r>
            <a:r>
              <a:rPr lang="en-US" sz="1100" dirty="0" err="1">
                <a:solidFill>
                  <a:srgbClr val="333F70"/>
                </a:solidFill>
                <a:latin typeface="Open Sans" pitchFamily="34" charset="0"/>
                <a:ea typeface="Open Sans" pitchFamily="34" charset="-122"/>
                <a:cs typeface="Open Sans" pitchFamily="34" charset="-120"/>
              </a:rPr>
              <a:t>Biswesar</a:t>
            </a:r>
            <a:r>
              <a:rPr lang="en-US" sz="1100" dirty="0">
                <a:solidFill>
                  <a:srgbClr val="333F70"/>
                </a:solidFill>
                <a:latin typeface="Open Sans" pitchFamily="34" charset="0"/>
                <a:ea typeface="Open Sans" pitchFamily="34" charset="-122"/>
                <a:cs typeface="Open Sans" pitchFamily="34" charset="-120"/>
              </a:rPr>
              <a:t> Ghosh</a:t>
            </a:r>
          </a:p>
          <a:p>
            <a:pPr>
              <a:lnSpc>
                <a:spcPct val="133000"/>
              </a:lnSpc>
            </a:pPr>
            <a:endParaRPr lang="en-US" sz="1100" dirty="0">
              <a:solidFill>
                <a:srgbClr val="333F70"/>
              </a:solidFill>
              <a:latin typeface="Open Sans" pitchFamily="34" charset="0"/>
              <a:ea typeface="Open Sans" pitchFamily="34" charset="-122"/>
              <a:cs typeface="Open Sans" pitchFamily="34" charset="-120"/>
            </a:endParaRPr>
          </a:p>
          <a:p>
            <a:pPr>
              <a:lnSpc>
                <a:spcPct val="133000"/>
              </a:lnSpc>
            </a:pPr>
            <a:r>
              <a:rPr lang="en-US" sz="1100" dirty="0">
                <a:solidFill>
                  <a:srgbClr val="333F70"/>
                </a:solidFill>
                <a:latin typeface="Open Sans" pitchFamily="34" charset="0"/>
                <a:ea typeface="Open Sans" pitchFamily="34" charset="-122"/>
                <a:cs typeface="Open Sans" pitchFamily="34" charset="-120"/>
              </a:rPr>
              <a:t>Group Number : 9</a:t>
            </a:r>
          </a:p>
          <a:p>
            <a:pPr marL="0" indent="0" algn="l">
              <a:lnSpc>
                <a:spcPct val="133000"/>
              </a:lnSpc>
              <a:buNone/>
            </a:pPr>
            <a:endParaRPr lang="en-US" sz="1100" dirty="0"/>
          </a:p>
        </p:txBody>
      </p:sp>
      <p:sp>
        <p:nvSpPr>
          <p:cNvPr id="5" name="Shape 2"/>
          <p:cNvSpPr/>
          <p:nvPr/>
        </p:nvSpPr>
        <p:spPr>
          <a:xfrm>
            <a:off x="3902257" y="4492068"/>
            <a:ext cx="841697" cy="266402"/>
          </a:xfrm>
          <a:prstGeom prst="roundRect">
            <a:avLst>
              <a:gd name="adj" fmla="val 17880"/>
            </a:avLst>
          </a:prstGeom>
          <a:solidFill>
            <a:srgbClr val="D6F5EE"/>
          </a:solidFill>
          <a:ln/>
        </p:spPr>
      </p:sp>
      <p:sp>
        <p:nvSpPr>
          <p:cNvPr id="6" name="Text 3"/>
          <p:cNvSpPr/>
          <p:nvPr/>
        </p:nvSpPr>
        <p:spPr>
          <a:xfrm>
            <a:off x="4007606" y="4534561"/>
            <a:ext cx="1128787" cy="181421"/>
          </a:xfrm>
          <a:prstGeom prst="rect">
            <a:avLst/>
          </a:prstGeom>
          <a:noFill/>
          <a:ln/>
        </p:spPr>
        <p:txBody>
          <a:bodyPr wrap="none" lIns="0" tIns="0" rIns="0" bIns="0" rtlCol="0" anchor="t"/>
          <a:lstStyle/>
          <a:p>
            <a:pPr marL="0" indent="0" algn="l">
              <a:lnSpc>
                <a:spcPct val="133000"/>
              </a:lnSpc>
              <a:buNone/>
            </a:pPr>
            <a:r>
              <a:rPr lang="en-US" sz="850" dirty="0">
                <a:solidFill>
                  <a:srgbClr val="333F70"/>
                </a:solidFill>
                <a:latin typeface="Open Sans" pitchFamily="34" charset="0"/>
                <a:ea typeface="Open Sans" pitchFamily="34" charset="-122"/>
                <a:cs typeface="Open Sans" pitchFamily="34" charset="-120"/>
              </a:rPr>
              <a:t>SEMESTER: 4</a:t>
            </a:r>
            <a:endParaRPr lang="en-US" sz="850" dirty="0"/>
          </a:p>
        </p:txBody>
      </p:sp>
      <p:sp>
        <p:nvSpPr>
          <p:cNvPr id="7" name="Shape 4"/>
          <p:cNvSpPr/>
          <p:nvPr/>
        </p:nvSpPr>
        <p:spPr>
          <a:xfrm>
            <a:off x="4837658" y="4487306"/>
            <a:ext cx="1026393" cy="275927"/>
          </a:xfrm>
          <a:prstGeom prst="roundRect">
            <a:avLst>
              <a:gd name="adj" fmla="val 17263"/>
            </a:avLst>
          </a:prstGeom>
          <a:noFill/>
          <a:ln w="4763">
            <a:solidFill>
              <a:srgbClr val="26A688"/>
            </a:solidFill>
            <a:prstDash val="solid"/>
          </a:ln>
        </p:spPr>
      </p:sp>
      <p:sp>
        <p:nvSpPr>
          <p:cNvPr id="8" name="Text 5"/>
          <p:cNvSpPr/>
          <p:nvPr/>
        </p:nvSpPr>
        <p:spPr>
          <a:xfrm>
            <a:off x="4927476" y="4534560"/>
            <a:ext cx="1303958" cy="181421"/>
          </a:xfrm>
          <a:prstGeom prst="rect">
            <a:avLst/>
          </a:prstGeom>
          <a:noFill/>
          <a:ln/>
        </p:spPr>
        <p:txBody>
          <a:bodyPr wrap="none" lIns="0" tIns="0" rIns="0" bIns="0" rtlCol="0" anchor="t"/>
          <a:lstStyle/>
          <a:p>
            <a:pPr marL="0" indent="0" algn="l">
              <a:lnSpc>
                <a:spcPct val="133000"/>
              </a:lnSpc>
              <a:buNone/>
            </a:pPr>
            <a:r>
              <a:rPr lang="en-US" sz="850" dirty="0">
                <a:solidFill>
                  <a:srgbClr val="26A688"/>
                </a:solidFill>
                <a:latin typeface="Open Sans" pitchFamily="34" charset="0"/>
                <a:ea typeface="Open Sans" pitchFamily="34" charset="-122"/>
                <a:cs typeface="Open Sans" pitchFamily="34" charset="-120"/>
              </a:rPr>
              <a:t>BATCH: 2024-26</a:t>
            </a:r>
            <a:endParaRPr lang="en-US" sz="850" dirty="0"/>
          </a:p>
        </p:txBody>
      </p:sp>
      <p:pic>
        <p:nvPicPr>
          <p:cNvPr id="10" name="Picture 9">
            <a:extLst>
              <a:ext uri="{FF2B5EF4-FFF2-40B4-BE49-F238E27FC236}">
                <a16:creationId xmlns:a16="http://schemas.microsoft.com/office/drawing/2014/main" id="{FA1D1B08-B66A-2D2F-CC51-FA8725DD08E8}"/>
              </a:ext>
            </a:extLst>
          </p:cNvPr>
          <p:cNvPicPr>
            <a:picLocks noChangeAspect="1"/>
          </p:cNvPicPr>
          <p:nvPr/>
        </p:nvPicPr>
        <p:blipFill>
          <a:blip r:embed="rId4"/>
          <a:stretch>
            <a:fillRect/>
          </a:stretch>
        </p:blipFill>
        <p:spPr>
          <a:xfrm>
            <a:off x="3720210" y="25132"/>
            <a:ext cx="1703580" cy="1090930"/>
          </a:xfrm>
          <a:prstGeom prst="rect">
            <a:avLst/>
          </a:prstGeom>
        </p:spPr>
      </p:pic>
      <p:sp>
        <p:nvSpPr>
          <p:cNvPr id="11" name="TextBox 10">
            <a:extLst>
              <a:ext uri="{FF2B5EF4-FFF2-40B4-BE49-F238E27FC236}">
                <a16:creationId xmlns:a16="http://schemas.microsoft.com/office/drawing/2014/main" id="{721EB3FA-0AB7-65B4-114D-C7DE1071B4A0}"/>
              </a:ext>
            </a:extLst>
          </p:cNvPr>
          <p:cNvSpPr txBox="1"/>
          <p:nvPr/>
        </p:nvSpPr>
        <p:spPr>
          <a:xfrm>
            <a:off x="5350854" y="196686"/>
            <a:ext cx="3793146" cy="1338828"/>
          </a:xfrm>
          <a:prstGeom prst="rect">
            <a:avLst/>
          </a:prstGeom>
          <a:noFill/>
        </p:spPr>
        <p:txBody>
          <a:bodyPr wrap="square" rtlCol="0">
            <a:spAutoFit/>
          </a:bodyPr>
          <a:lstStyle/>
          <a:p>
            <a:pPr algn="ctr"/>
            <a:r>
              <a:rPr lang="en-US" sz="2400" b="1" dirty="0">
                <a:latin typeface="Agency FB" panose="020B0503020202020204" pitchFamily="34" charset="0"/>
              </a:rPr>
              <a:t>Dr. B. C. Roy Engineering College</a:t>
            </a:r>
          </a:p>
          <a:p>
            <a:pPr algn="ctr"/>
            <a:r>
              <a:rPr lang="en-US" sz="1100" dirty="0" err="1">
                <a:latin typeface="Trebuchet MS" panose="020B0603020202020204" pitchFamily="34" charset="0"/>
              </a:rPr>
              <a:t>Fuljhore</a:t>
            </a:r>
            <a:r>
              <a:rPr lang="en-US" sz="1100" dirty="0">
                <a:latin typeface="Trebuchet MS" panose="020B0603020202020204" pitchFamily="34" charset="0"/>
              </a:rPr>
              <a:t>, </a:t>
            </a:r>
            <a:r>
              <a:rPr lang="en-US" sz="1100" dirty="0" err="1">
                <a:latin typeface="Trebuchet MS" panose="020B0603020202020204" pitchFamily="34" charset="0"/>
              </a:rPr>
              <a:t>Jemua</a:t>
            </a:r>
            <a:r>
              <a:rPr lang="en-US" sz="1100" dirty="0">
                <a:latin typeface="Trebuchet MS" panose="020B0603020202020204" pitchFamily="34" charset="0"/>
              </a:rPr>
              <a:t> Road, Durgapur-713206</a:t>
            </a:r>
            <a:endParaRPr lang="en-IN" sz="1100" dirty="0">
              <a:latin typeface="Trebuchet MS" panose="020B0603020202020204" pitchFamily="34" charset="0"/>
            </a:endParaRPr>
          </a:p>
          <a:p>
            <a:pPr algn="ctr"/>
            <a:r>
              <a:rPr lang="en-US" sz="1100" dirty="0">
                <a:latin typeface="Trebuchet MS" panose="020B0603020202020204" pitchFamily="34" charset="0"/>
              </a:rPr>
              <a:t>West Bengal, India</a:t>
            </a:r>
            <a:endParaRPr lang="en-IN" sz="1100" dirty="0">
              <a:latin typeface="Trebuchet MS" panose="020B0603020202020204" pitchFamily="34" charset="0"/>
            </a:endParaRPr>
          </a:p>
          <a:p>
            <a:pPr algn="ctr"/>
            <a:r>
              <a:rPr lang="en-US" sz="1100" dirty="0">
                <a:latin typeface="Trebuchet MS" panose="020B0603020202020204" pitchFamily="34" charset="0"/>
              </a:rPr>
              <a:t>2024-2026</a:t>
            </a:r>
            <a:endParaRPr lang="en-IN" sz="1100" dirty="0">
              <a:latin typeface="Trebuchet MS" panose="020B0603020202020204" pitchFamily="34" charset="0"/>
            </a:endParaRPr>
          </a:p>
          <a:p>
            <a:pPr algn="ctr"/>
            <a:endParaRPr lang="en-IN" sz="2400" b="1" dirty="0">
              <a:latin typeface="Agency FB" panose="020B0503020202020204" pitchFamily="34" charset="0"/>
            </a:endParaRPr>
          </a:p>
        </p:txBody>
      </p:sp>
      <p:pic>
        <p:nvPicPr>
          <p:cNvPr id="13" name="Picture 12">
            <a:extLst>
              <a:ext uri="{FF2B5EF4-FFF2-40B4-BE49-F238E27FC236}">
                <a16:creationId xmlns:a16="http://schemas.microsoft.com/office/drawing/2014/main" id="{EA5388A3-B4D8-1932-E724-B91C727DF671}"/>
              </a:ext>
            </a:extLst>
          </p:cNvPr>
          <p:cNvPicPr>
            <a:picLocks noChangeAspect="1"/>
          </p:cNvPicPr>
          <p:nvPr/>
        </p:nvPicPr>
        <p:blipFill>
          <a:blip r:embed="rId5"/>
          <a:stretch>
            <a:fillRect/>
          </a:stretch>
        </p:blipFill>
        <p:spPr>
          <a:xfrm>
            <a:off x="7212608" y="4358952"/>
            <a:ext cx="1931392" cy="7692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051728" y="1558480"/>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Abstract</a:t>
            </a:r>
            <a:endParaRPr lang="en-US" sz="2750" dirty="0"/>
          </a:p>
        </p:txBody>
      </p:sp>
      <p:sp>
        <p:nvSpPr>
          <p:cNvPr id="4" name="Text 1"/>
          <p:cNvSpPr/>
          <p:nvPr/>
        </p:nvSpPr>
        <p:spPr>
          <a:xfrm>
            <a:off x="4051728" y="2219102"/>
            <a:ext cx="4722763"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This project builds an automated plant-leaf disease classifier using transfer learning (MobileNetV2). We processed the PlantVillage-derived dataset (15 classes, ~20.6K images), addressed class imbalance, trained with data augmentation and class weights, and deployed a prediction interface. Final fine-tuned model achieves ~94% validation accuracy with high per-class precision and recall.</a:t>
            </a:r>
            <a:endParaRPr lang="en-US" sz="1100" dirty="0"/>
          </a:p>
        </p:txBody>
      </p:sp>
      <p:pic>
        <p:nvPicPr>
          <p:cNvPr id="6" name="Picture 5">
            <a:extLst>
              <a:ext uri="{FF2B5EF4-FFF2-40B4-BE49-F238E27FC236}">
                <a16:creationId xmlns:a16="http://schemas.microsoft.com/office/drawing/2014/main" id="{03D5CF2D-43A1-58A9-80B7-A01CFD87AA53}"/>
              </a:ext>
            </a:extLst>
          </p:cNvPr>
          <p:cNvPicPr>
            <a:picLocks noChangeAspect="1"/>
          </p:cNvPicPr>
          <p:nvPr/>
        </p:nvPicPr>
        <p:blipFill>
          <a:blip r:embed="rId3"/>
          <a:srcRect/>
          <a:stretch/>
        </p:blipFill>
        <p:spPr>
          <a:xfrm>
            <a:off x="-1" y="0"/>
            <a:ext cx="4001319" cy="5143500"/>
          </a:xfrm>
          <a:prstGeom prst="rect">
            <a:avLst/>
          </a:prstGeom>
        </p:spPr>
      </p:pic>
      <p:pic>
        <p:nvPicPr>
          <p:cNvPr id="8" name="Picture 7">
            <a:extLst>
              <a:ext uri="{FF2B5EF4-FFF2-40B4-BE49-F238E27FC236}">
                <a16:creationId xmlns:a16="http://schemas.microsoft.com/office/drawing/2014/main" id="{9FAE5C96-462F-67FE-D0C4-CC79A5DBA2DE}"/>
              </a:ext>
            </a:extLst>
          </p:cNvPr>
          <p:cNvPicPr>
            <a:picLocks noChangeAspect="1"/>
          </p:cNvPicPr>
          <p:nvPr/>
        </p:nvPicPr>
        <p:blipFill>
          <a:blip r:embed="rId4"/>
          <a:stretch>
            <a:fillRect/>
          </a:stretch>
        </p:blipFill>
        <p:spPr>
          <a:xfrm>
            <a:off x="7212608" y="4358952"/>
            <a:ext cx="1931392" cy="7692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261914"/>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Introduction</a:t>
            </a:r>
            <a:endParaRPr lang="en-US" sz="2750" dirty="0"/>
          </a:p>
        </p:txBody>
      </p:sp>
      <p:sp>
        <p:nvSpPr>
          <p:cNvPr id="3" name="Text 1"/>
          <p:cNvSpPr/>
          <p:nvPr/>
        </p:nvSpPr>
        <p:spPr>
          <a:xfrm>
            <a:off x="496119" y="1988418"/>
            <a:ext cx="8151763" cy="680442"/>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333F70"/>
                </a:solidFill>
                <a:latin typeface="Open Sans" pitchFamily="34" charset="0"/>
                <a:ea typeface="Open Sans" pitchFamily="34" charset="-122"/>
                <a:cs typeface="Open Sans" pitchFamily="34" charset="-120"/>
              </a:rPr>
              <a:t>   Early disease identification reduces crop loss and supports precision agriculture. Our Goal is to Create an accurate, lightweight model suitable for edge deployment and quick field diagnosis. The Dataset contains 15 disease classes from PlantVillage (~20,639 images). Input size: 224×224, batch size: 32.   </a:t>
            </a:r>
            <a:endParaRPr lang="en-US" sz="1100" dirty="0"/>
          </a:p>
        </p:txBody>
      </p:sp>
      <p:sp>
        <p:nvSpPr>
          <p:cNvPr id="4" name="Shape 2"/>
          <p:cNvSpPr/>
          <p:nvPr/>
        </p:nvSpPr>
        <p:spPr>
          <a:xfrm>
            <a:off x="496119" y="2828330"/>
            <a:ext cx="2622724" cy="1053182"/>
          </a:xfrm>
          <a:prstGeom prst="roundRect">
            <a:avLst>
              <a:gd name="adj" fmla="val 5654"/>
            </a:avLst>
          </a:prstGeom>
          <a:solidFill>
            <a:srgbClr val="D6F5EE"/>
          </a:solidFill>
          <a:ln w="4763">
            <a:solidFill>
              <a:srgbClr val="BCDBD4"/>
            </a:solidFill>
            <a:prstDash val="solid"/>
          </a:ln>
        </p:spPr>
      </p:sp>
      <p:sp>
        <p:nvSpPr>
          <p:cNvPr id="5" name="Text 3"/>
          <p:cNvSpPr/>
          <p:nvPr/>
        </p:nvSpPr>
        <p:spPr>
          <a:xfrm>
            <a:off x="642640" y="2974851"/>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Problem</a:t>
            </a:r>
            <a:endParaRPr lang="en-US" sz="1350" dirty="0"/>
          </a:p>
        </p:txBody>
      </p:sp>
      <p:sp>
        <p:nvSpPr>
          <p:cNvPr id="6" name="Text 4"/>
          <p:cNvSpPr/>
          <p:nvPr/>
        </p:nvSpPr>
        <p:spPr>
          <a:xfrm>
            <a:off x="642640" y="3281363"/>
            <a:ext cx="2329681"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Manual diagnosis is slow and error-prone.</a:t>
            </a:r>
            <a:endParaRPr lang="en-US" sz="1100" dirty="0"/>
          </a:p>
        </p:txBody>
      </p:sp>
      <p:sp>
        <p:nvSpPr>
          <p:cNvPr id="7" name="Shape 5"/>
          <p:cNvSpPr/>
          <p:nvPr/>
        </p:nvSpPr>
        <p:spPr>
          <a:xfrm>
            <a:off x="3260601" y="2828330"/>
            <a:ext cx="2622724" cy="1053182"/>
          </a:xfrm>
          <a:prstGeom prst="roundRect">
            <a:avLst>
              <a:gd name="adj" fmla="val 5654"/>
            </a:avLst>
          </a:prstGeom>
          <a:solidFill>
            <a:srgbClr val="D6F5EE"/>
          </a:solidFill>
          <a:ln w="4763">
            <a:solidFill>
              <a:srgbClr val="BCDBD4"/>
            </a:solidFill>
            <a:prstDash val="solid"/>
          </a:ln>
        </p:spPr>
      </p:sp>
      <p:sp>
        <p:nvSpPr>
          <p:cNvPr id="8" name="Text 6"/>
          <p:cNvSpPr/>
          <p:nvPr/>
        </p:nvSpPr>
        <p:spPr>
          <a:xfrm>
            <a:off x="3407122" y="2974851"/>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Approach</a:t>
            </a:r>
            <a:endParaRPr lang="en-US" sz="1350" dirty="0"/>
          </a:p>
        </p:txBody>
      </p:sp>
      <p:sp>
        <p:nvSpPr>
          <p:cNvPr id="9" name="Text 7"/>
          <p:cNvSpPr/>
          <p:nvPr/>
        </p:nvSpPr>
        <p:spPr>
          <a:xfrm>
            <a:off x="3407122" y="3281363"/>
            <a:ext cx="2329681"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Transfer learning + augmentation + class-weighted training.</a:t>
            </a:r>
            <a:endParaRPr lang="en-US" sz="1100" dirty="0"/>
          </a:p>
        </p:txBody>
      </p:sp>
      <p:sp>
        <p:nvSpPr>
          <p:cNvPr id="10" name="Shape 8"/>
          <p:cNvSpPr/>
          <p:nvPr/>
        </p:nvSpPr>
        <p:spPr>
          <a:xfrm>
            <a:off x="6025083" y="2828330"/>
            <a:ext cx="2622724" cy="1053182"/>
          </a:xfrm>
          <a:prstGeom prst="roundRect">
            <a:avLst>
              <a:gd name="adj" fmla="val 5654"/>
            </a:avLst>
          </a:prstGeom>
          <a:solidFill>
            <a:srgbClr val="D6F5EE"/>
          </a:solidFill>
          <a:ln w="4763">
            <a:solidFill>
              <a:srgbClr val="BCDBD4"/>
            </a:solidFill>
            <a:prstDash val="solid"/>
          </a:ln>
        </p:spPr>
      </p:sp>
      <p:sp>
        <p:nvSpPr>
          <p:cNvPr id="11" name="Text 9"/>
          <p:cNvSpPr/>
          <p:nvPr/>
        </p:nvSpPr>
        <p:spPr>
          <a:xfrm>
            <a:off x="6171605" y="2974851"/>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Outcome</a:t>
            </a:r>
            <a:endParaRPr lang="en-US" sz="1350" dirty="0"/>
          </a:p>
        </p:txBody>
      </p:sp>
      <p:sp>
        <p:nvSpPr>
          <p:cNvPr id="12" name="Text 10"/>
          <p:cNvSpPr/>
          <p:nvPr/>
        </p:nvSpPr>
        <p:spPr>
          <a:xfrm>
            <a:off x="6171605" y="3281363"/>
            <a:ext cx="2329681"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High-accuracy classifier and a Gradio interface for demo.</a:t>
            </a:r>
            <a:endParaRPr lang="en-US" sz="1100" dirty="0"/>
          </a:p>
        </p:txBody>
      </p:sp>
      <p:pic>
        <p:nvPicPr>
          <p:cNvPr id="14" name="Picture 13">
            <a:extLst>
              <a:ext uri="{FF2B5EF4-FFF2-40B4-BE49-F238E27FC236}">
                <a16:creationId xmlns:a16="http://schemas.microsoft.com/office/drawing/2014/main" id="{9A209786-F1AC-0E8D-BAFA-B561FB69E9C7}"/>
              </a:ext>
            </a:extLst>
          </p:cNvPr>
          <p:cNvPicPr>
            <a:picLocks noChangeAspect="1"/>
          </p:cNvPicPr>
          <p:nvPr/>
        </p:nvPicPr>
        <p:blipFill>
          <a:blip r:embed="rId3"/>
          <a:stretch>
            <a:fillRect/>
          </a:stretch>
        </p:blipFill>
        <p:spPr>
          <a:xfrm>
            <a:off x="7212608" y="4358952"/>
            <a:ext cx="1931392" cy="7692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081683"/>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Scope</a:t>
            </a:r>
            <a:endParaRPr lang="en-US" sz="2750" dirty="0"/>
          </a:p>
        </p:txBody>
      </p:sp>
      <p:pic>
        <p:nvPicPr>
          <p:cNvPr id="3" name="Image 0" descr="preencoded.png"/>
          <p:cNvPicPr>
            <a:picLocks noChangeAspect="1"/>
          </p:cNvPicPr>
          <p:nvPr/>
        </p:nvPicPr>
        <p:blipFill>
          <a:blip r:embed="rId3"/>
          <a:stretch>
            <a:fillRect/>
          </a:stretch>
        </p:blipFill>
        <p:spPr>
          <a:xfrm>
            <a:off x="496119" y="2034480"/>
            <a:ext cx="3053135" cy="1730053"/>
          </a:xfrm>
          <a:prstGeom prst="rect">
            <a:avLst/>
          </a:prstGeom>
        </p:spPr>
      </p:pic>
      <p:sp>
        <p:nvSpPr>
          <p:cNvPr id="4" name="Text 1"/>
          <p:cNvSpPr/>
          <p:nvPr/>
        </p:nvSpPr>
        <p:spPr>
          <a:xfrm>
            <a:off x="3899892" y="1879029"/>
            <a:ext cx="4752677" cy="708720"/>
          </a:xfrm>
          <a:prstGeom prst="rect">
            <a:avLst/>
          </a:prstGeom>
          <a:noFill/>
          <a:ln/>
        </p:spPr>
        <p:txBody>
          <a:bodyPr wrap="square" lIns="0" tIns="0" rIns="0" bIns="0" rtlCol="0" anchor="t">
            <a:normAutofit/>
          </a:bodyPr>
          <a:lstStyle/>
          <a:p>
            <a:pPr marL="0" indent="0" algn="l">
              <a:lnSpc>
                <a:spcPct val="104000"/>
              </a:lnSpc>
              <a:buNone/>
            </a:pPr>
            <a:r>
              <a:rPr lang="en-US" sz="2200" b="1" dirty="0">
                <a:solidFill>
                  <a:srgbClr val="333F70"/>
                </a:solidFill>
                <a:latin typeface="Unbounded Bold" pitchFamily="34" charset="0"/>
                <a:ea typeface="Unbounded Bold" pitchFamily="34" charset="-122"/>
                <a:cs typeface="Unbounded Bold" pitchFamily="34" charset="-120"/>
              </a:rPr>
              <a:t>Project Boundaries &amp; Deliverables</a:t>
            </a:r>
            <a:endParaRPr lang="en-US" sz="2200" dirty="0"/>
          </a:p>
        </p:txBody>
      </p:sp>
      <p:sp>
        <p:nvSpPr>
          <p:cNvPr id="5" name="Text 2"/>
          <p:cNvSpPr/>
          <p:nvPr/>
        </p:nvSpPr>
        <p:spPr>
          <a:xfrm>
            <a:off x="3899892" y="2729508"/>
            <a:ext cx="4752677" cy="128275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Classification of 15 common plant disease classes (tomato, potato, pepper variants)</a:t>
            </a:r>
            <a:endParaRPr lang="en-US" sz="1100" dirty="0"/>
          </a:p>
          <a:p>
            <a:pPr marL="342900" indent="-34290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Model training, fine-tuning, evaluation, and confusion analysis</a:t>
            </a:r>
            <a:endParaRPr lang="en-US" sz="1100" dirty="0"/>
          </a:p>
          <a:p>
            <a:pPr marL="342900" indent="-34290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Lightweight export (.keras) and a web demo via Gradio</a:t>
            </a:r>
            <a:endParaRPr lang="en-US" sz="1100" dirty="0"/>
          </a:p>
          <a:p>
            <a:pPr marL="342900" indent="-34290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Limitations: dataset bias, class imbalance, environmental variability</a:t>
            </a:r>
            <a:endParaRPr lang="en-US" sz="1100" dirty="0"/>
          </a:p>
        </p:txBody>
      </p:sp>
      <p:pic>
        <p:nvPicPr>
          <p:cNvPr id="7" name="Picture 6">
            <a:extLst>
              <a:ext uri="{FF2B5EF4-FFF2-40B4-BE49-F238E27FC236}">
                <a16:creationId xmlns:a16="http://schemas.microsoft.com/office/drawing/2014/main" id="{F2730AEE-D7FF-12F3-D805-60F6A8FF3BA9}"/>
              </a:ext>
            </a:extLst>
          </p:cNvPr>
          <p:cNvPicPr>
            <a:picLocks noChangeAspect="1"/>
          </p:cNvPicPr>
          <p:nvPr/>
        </p:nvPicPr>
        <p:blipFill>
          <a:blip r:embed="rId4"/>
          <a:stretch>
            <a:fillRect/>
          </a:stretch>
        </p:blipFill>
        <p:spPr>
          <a:xfrm>
            <a:off x="7212608" y="4358952"/>
            <a:ext cx="1931392" cy="7692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8161"/>
            <a:ext cx="3848546" cy="394543"/>
          </a:xfrm>
          <a:prstGeom prst="rect">
            <a:avLst/>
          </a:prstGeom>
          <a:noFill/>
          <a:ln/>
        </p:spPr>
        <p:txBody>
          <a:bodyPr wrap="none" lIns="0" tIns="0" rIns="0" bIns="0" rtlCol="0" anchor="t"/>
          <a:lstStyle/>
          <a:p>
            <a:pPr marL="0" indent="0" algn="l">
              <a:lnSpc>
                <a:spcPct val="104000"/>
              </a:lnSpc>
              <a:buNone/>
            </a:pPr>
            <a:r>
              <a:rPr lang="en-US" sz="2450" b="1" dirty="0">
                <a:solidFill>
                  <a:srgbClr val="333F70"/>
                </a:solidFill>
                <a:latin typeface="Unbounded Bold" pitchFamily="34" charset="0"/>
                <a:ea typeface="Unbounded Bold" pitchFamily="34" charset="-122"/>
                <a:cs typeface="Unbounded Bold" pitchFamily="34" charset="-120"/>
              </a:rPr>
              <a:t>Key Technologies</a:t>
            </a:r>
            <a:endParaRPr lang="en-US" sz="2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097831"/>
            <a:ext cx="315590" cy="315590"/>
          </a:xfrm>
          <a:prstGeom prst="rect">
            <a:avLst/>
          </a:prstGeom>
        </p:spPr>
      </p:pic>
      <p:sp>
        <p:nvSpPr>
          <p:cNvPr id="4" name="Text 1"/>
          <p:cNvSpPr/>
          <p:nvPr/>
        </p:nvSpPr>
        <p:spPr>
          <a:xfrm>
            <a:off x="496119" y="1553914"/>
            <a:ext cx="1578248"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Python</a:t>
            </a:r>
            <a:endParaRPr lang="en-US" sz="1200" dirty="0"/>
          </a:p>
        </p:txBody>
      </p:sp>
      <p:sp>
        <p:nvSpPr>
          <p:cNvPr id="5" name="Text 2"/>
          <p:cNvSpPr/>
          <p:nvPr/>
        </p:nvSpPr>
        <p:spPr>
          <a:xfrm>
            <a:off x="496119" y="1863626"/>
            <a:ext cx="3921844" cy="190946"/>
          </a:xfrm>
          <a:prstGeom prst="rect">
            <a:avLst/>
          </a:prstGeom>
          <a:noFill/>
          <a:ln/>
        </p:spPr>
        <p:txBody>
          <a:bodyPr wrap="none" lIns="0" tIns="0" rIns="0" bIns="0" rtlCol="0" anchor="t"/>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Data processing, training scripts, inference utilities</a:t>
            </a:r>
            <a:endParaRPr lang="en-US" sz="9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279452"/>
            <a:ext cx="315590" cy="315590"/>
          </a:xfrm>
          <a:prstGeom prst="rect">
            <a:avLst/>
          </a:prstGeom>
        </p:spPr>
      </p:pic>
      <p:sp>
        <p:nvSpPr>
          <p:cNvPr id="7" name="Text 3"/>
          <p:cNvSpPr/>
          <p:nvPr/>
        </p:nvSpPr>
        <p:spPr>
          <a:xfrm>
            <a:off x="496119" y="2735535"/>
            <a:ext cx="1864891"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TensorFlow / Keras</a:t>
            </a:r>
            <a:endParaRPr lang="en-US" sz="1200" dirty="0"/>
          </a:p>
        </p:txBody>
      </p:sp>
      <p:sp>
        <p:nvSpPr>
          <p:cNvPr id="8" name="Text 4"/>
          <p:cNvSpPr/>
          <p:nvPr/>
        </p:nvSpPr>
        <p:spPr>
          <a:xfrm>
            <a:off x="496119" y="3045247"/>
            <a:ext cx="3921844" cy="190946"/>
          </a:xfrm>
          <a:prstGeom prst="rect">
            <a:avLst/>
          </a:prstGeom>
          <a:noFill/>
          <a:ln/>
        </p:spPr>
        <p:txBody>
          <a:bodyPr wrap="none" lIns="0" tIns="0" rIns="0" bIns="0" rtlCol="0" anchor="t"/>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MobileNetV2 backbone, model.compile, training, checkpointing</a:t>
            </a:r>
            <a:endParaRPr lang="en-US" sz="9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461072"/>
            <a:ext cx="315590" cy="315590"/>
          </a:xfrm>
          <a:prstGeom prst="rect">
            <a:avLst/>
          </a:prstGeom>
        </p:spPr>
      </p:pic>
      <p:sp>
        <p:nvSpPr>
          <p:cNvPr id="10" name="Text 5"/>
          <p:cNvSpPr/>
          <p:nvPr/>
        </p:nvSpPr>
        <p:spPr>
          <a:xfrm>
            <a:off x="496119" y="3917156"/>
            <a:ext cx="1578248"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Scikit-learn</a:t>
            </a:r>
            <a:endParaRPr lang="en-US" sz="1200" dirty="0"/>
          </a:p>
        </p:txBody>
      </p:sp>
      <p:sp>
        <p:nvSpPr>
          <p:cNvPr id="11" name="Text 6"/>
          <p:cNvSpPr/>
          <p:nvPr/>
        </p:nvSpPr>
        <p:spPr>
          <a:xfrm>
            <a:off x="496119" y="4226868"/>
            <a:ext cx="3921844" cy="190946"/>
          </a:xfrm>
          <a:prstGeom prst="rect">
            <a:avLst/>
          </a:prstGeom>
          <a:noFill/>
          <a:ln/>
        </p:spPr>
        <p:txBody>
          <a:bodyPr wrap="none" lIns="0" tIns="0" rIns="0" bIns="0" rtlCol="0" anchor="t"/>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Class-weight computation, metrics, confusion matrix</a:t>
            </a:r>
            <a:endParaRPr lang="en-US" sz="9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30800" y="1097831"/>
            <a:ext cx="315590" cy="315590"/>
          </a:xfrm>
          <a:prstGeom prst="rect">
            <a:avLst/>
          </a:prstGeom>
        </p:spPr>
      </p:pic>
      <p:sp>
        <p:nvSpPr>
          <p:cNvPr id="13" name="Text 7"/>
          <p:cNvSpPr/>
          <p:nvPr/>
        </p:nvSpPr>
        <p:spPr>
          <a:xfrm>
            <a:off x="4730800" y="1553914"/>
            <a:ext cx="2029569"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Matplotlib / Seaborn</a:t>
            </a:r>
            <a:endParaRPr lang="en-US" sz="1200" dirty="0"/>
          </a:p>
        </p:txBody>
      </p:sp>
      <p:sp>
        <p:nvSpPr>
          <p:cNvPr id="14" name="Text 8"/>
          <p:cNvSpPr/>
          <p:nvPr/>
        </p:nvSpPr>
        <p:spPr>
          <a:xfrm>
            <a:off x="4730800" y="1863626"/>
            <a:ext cx="3921844" cy="190946"/>
          </a:xfrm>
          <a:prstGeom prst="rect">
            <a:avLst/>
          </a:prstGeom>
          <a:noFill/>
          <a:ln/>
        </p:spPr>
        <p:txBody>
          <a:bodyPr wrap="none" lIns="0" tIns="0" rIns="0" bIns="0" rtlCol="0" anchor="t"/>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EDA, class distribution bar chart, training plots, confusion heatmap</a:t>
            </a:r>
            <a:endParaRPr lang="en-US" sz="9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30800" y="2279452"/>
            <a:ext cx="315590" cy="315590"/>
          </a:xfrm>
          <a:prstGeom prst="rect">
            <a:avLst/>
          </a:prstGeom>
        </p:spPr>
      </p:pic>
      <p:sp>
        <p:nvSpPr>
          <p:cNvPr id="16" name="Text 9"/>
          <p:cNvSpPr/>
          <p:nvPr/>
        </p:nvSpPr>
        <p:spPr>
          <a:xfrm>
            <a:off x="4730800" y="2735535"/>
            <a:ext cx="1578248"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Gradio</a:t>
            </a:r>
            <a:endParaRPr lang="en-US" sz="1200" dirty="0"/>
          </a:p>
        </p:txBody>
      </p:sp>
      <p:sp>
        <p:nvSpPr>
          <p:cNvPr id="17" name="Text 10"/>
          <p:cNvSpPr/>
          <p:nvPr/>
        </p:nvSpPr>
        <p:spPr>
          <a:xfrm>
            <a:off x="4730800" y="3045247"/>
            <a:ext cx="3921844" cy="190946"/>
          </a:xfrm>
          <a:prstGeom prst="rect">
            <a:avLst/>
          </a:prstGeom>
          <a:noFill/>
          <a:ln/>
        </p:spPr>
        <p:txBody>
          <a:bodyPr wrap="none" lIns="0" tIns="0" rIns="0" bIns="0" rtlCol="0" anchor="t"/>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Interactive demo for live image prediction and information display</a:t>
            </a:r>
            <a:endParaRPr lang="en-US" sz="9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30800" y="3461072"/>
            <a:ext cx="315590" cy="315590"/>
          </a:xfrm>
          <a:prstGeom prst="rect">
            <a:avLst/>
          </a:prstGeom>
        </p:spPr>
      </p:pic>
      <p:sp>
        <p:nvSpPr>
          <p:cNvPr id="19" name="Text 11"/>
          <p:cNvSpPr/>
          <p:nvPr/>
        </p:nvSpPr>
        <p:spPr>
          <a:xfrm>
            <a:off x="4730800" y="3917156"/>
            <a:ext cx="1945481"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Versioning &amp; Export</a:t>
            </a:r>
            <a:endParaRPr lang="en-US" sz="1200" dirty="0"/>
          </a:p>
        </p:txBody>
      </p:sp>
      <p:sp>
        <p:nvSpPr>
          <p:cNvPr id="20" name="Text 12"/>
          <p:cNvSpPr/>
          <p:nvPr/>
        </p:nvSpPr>
        <p:spPr>
          <a:xfrm>
            <a:off x="4730800" y="4226868"/>
            <a:ext cx="3921844" cy="381893"/>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Model saved as plant_disease_model.keras; class_names.json for label mapping</a:t>
            </a:r>
            <a:endParaRPr lang="en-US" sz="950" dirty="0"/>
          </a:p>
        </p:txBody>
      </p:sp>
      <p:pic>
        <p:nvPicPr>
          <p:cNvPr id="22" name="Picture 21">
            <a:extLst>
              <a:ext uri="{FF2B5EF4-FFF2-40B4-BE49-F238E27FC236}">
                <a16:creationId xmlns:a16="http://schemas.microsoft.com/office/drawing/2014/main" id="{FD926DC0-251C-466A-8EB9-4D8632895E03}"/>
              </a:ext>
            </a:extLst>
          </p:cNvPr>
          <p:cNvPicPr>
            <a:picLocks noChangeAspect="1"/>
          </p:cNvPicPr>
          <p:nvPr/>
        </p:nvPicPr>
        <p:blipFill>
          <a:blip r:embed="rId9"/>
          <a:stretch>
            <a:fillRect/>
          </a:stretch>
        </p:blipFill>
        <p:spPr>
          <a:xfrm>
            <a:off x="7212608" y="4417814"/>
            <a:ext cx="1931392" cy="7104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77887"/>
            <a:ext cx="4186833"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Project Progress</a:t>
            </a:r>
            <a:endParaRPr lang="en-US" sz="2750" dirty="0"/>
          </a:p>
        </p:txBody>
      </p:sp>
      <p:sp>
        <p:nvSpPr>
          <p:cNvPr id="3" name="Text 1"/>
          <p:cNvSpPr/>
          <p:nvPr/>
        </p:nvSpPr>
        <p:spPr>
          <a:xfrm>
            <a:off x="496119" y="1204392"/>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Key milestones, status, and diagnostic notes.   </a:t>
            </a:r>
            <a:endParaRPr lang="en-US" sz="1100" dirty="0"/>
          </a:p>
        </p:txBody>
      </p:sp>
      <p:sp>
        <p:nvSpPr>
          <p:cNvPr id="4" name="Text 2"/>
          <p:cNvSpPr/>
          <p:nvPr/>
        </p:nvSpPr>
        <p:spPr>
          <a:xfrm>
            <a:off x="496119" y="1590675"/>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01</a:t>
            </a:r>
            <a:endParaRPr lang="en-US" sz="1100" dirty="0"/>
          </a:p>
        </p:txBody>
      </p:sp>
      <p:sp>
        <p:nvSpPr>
          <p:cNvPr id="5" name="Shape 3"/>
          <p:cNvSpPr/>
          <p:nvPr/>
        </p:nvSpPr>
        <p:spPr>
          <a:xfrm>
            <a:off x="496119" y="1812578"/>
            <a:ext cx="4004965" cy="19050"/>
          </a:xfrm>
          <a:prstGeom prst="rect">
            <a:avLst/>
          </a:prstGeom>
          <a:solidFill>
            <a:srgbClr val="26A688"/>
          </a:solidFill>
          <a:ln/>
        </p:spPr>
      </p:sp>
      <p:sp>
        <p:nvSpPr>
          <p:cNvPr id="6" name="Text 4"/>
          <p:cNvSpPr/>
          <p:nvPr/>
        </p:nvSpPr>
        <p:spPr>
          <a:xfrm>
            <a:off x="496119" y="1921520"/>
            <a:ext cx="1948235"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Data Preparation</a:t>
            </a:r>
            <a:endParaRPr lang="en-US" sz="1350" dirty="0"/>
          </a:p>
        </p:txBody>
      </p:sp>
      <p:sp>
        <p:nvSpPr>
          <p:cNvPr id="7" name="Text 5"/>
          <p:cNvSpPr/>
          <p:nvPr/>
        </p:nvSpPr>
        <p:spPr>
          <a:xfrm>
            <a:off x="496119" y="2228031"/>
            <a:ext cx="400496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Counted images per class (15 classes, 20.6K images). Visualized samples and distribution. Addressed imbalance with class weights.</a:t>
            </a:r>
            <a:endParaRPr lang="en-US" sz="1100" dirty="0"/>
          </a:p>
        </p:txBody>
      </p:sp>
      <p:sp>
        <p:nvSpPr>
          <p:cNvPr id="8" name="Text 6"/>
          <p:cNvSpPr/>
          <p:nvPr/>
        </p:nvSpPr>
        <p:spPr>
          <a:xfrm>
            <a:off x="4642842" y="1590675"/>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02</a:t>
            </a:r>
            <a:endParaRPr lang="en-US" sz="1100" dirty="0"/>
          </a:p>
        </p:txBody>
      </p:sp>
      <p:sp>
        <p:nvSpPr>
          <p:cNvPr id="9" name="Shape 7"/>
          <p:cNvSpPr/>
          <p:nvPr/>
        </p:nvSpPr>
        <p:spPr>
          <a:xfrm>
            <a:off x="4642842" y="1812578"/>
            <a:ext cx="4005039" cy="19050"/>
          </a:xfrm>
          <a:prstGeom prst="rect">
            <a:avLst/>
          </a:prstGeom>
          <a:solidFill>
            <a:srgbClr val="26A688"/>
          </a:solidFill>
          <a:ln/>
        </p:spPr>
      </p:sp>
      <p:sp>
        <p:nvSpPr>
          <p:cNvPr id="10" name="Text 8"/>
          <p:cNvSpPr/>
          <p:nvPr/>
        </p:nvSpPr>
        <p:spPr>
          <a:xfrm>
            <a:off x="4642842" y="1921520"/>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Modeling</a:t>
            </a:r>
            <a:endParaRPr lang="en-US" sz="1350" dirty="0"/>
          </a:p>
        </p:txBody>
      </p:sp>
      <p:sp>
        <p:nvSpPr>
          <p:cNvPr id="11" name="Text 9"/>
          <p:cNvSpPr/>
          <p:nvPr/>
        </p:nvSpPr>
        <p:spPr>
          <a:xfrm>
            <a:off x="4642842" y="2228031"/>
            <a:ext cx="400503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Base: MobileNetV2 (imagenet weights, frozen). Added GAP, Dropout (0.2), Dense(15, softmax).</a:t>
            </a:r>
            <a:endParaRPr lang="en-US" sz="1100" dirty="0"/>
          </a:p>
        </p:txBody>
      </p:sp>
      <p:sp>
        <p:nvSpPr>
          <p:cNvPr id="12" name="Text 10"/>
          <p:cNvSpPr/>
          <p:nvPr/>
        </p:nvSpPr>
        <p:spPr>
          <a:xfrm>
            <a:off x="496119" y="3156496"/>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03</a:t>
            </a:r>
            <a:endParaRPr lang="en-US" sz="1100" dirty="0"/>
          </a:p>
        </p:txBody>
      </p:sp>
      <p:sp>
        <p:nvSpPr>
          <p:cNvPr id="13" name="Shape 11"/>
          <p:cNvSpPr/>
          <p:nvPr/>
        </p:nvSpPr>
        <p:spPr>
          <a:xfrm>
            <a:off x="496119" y="3378398"/>
            <a:ext cx="4004965" cy="19050"/>
          </a:xfrm>
          <a:prstGeom prst="rect">
            <a:avLst/>
          </a:prstGeom>
          <a:solidFill>
            <a:srgbClr val="26A688"/>
          </a:solidFill>
          <a:ln/>
        </p:spPr>
      </p:sp>
      <p:sp>
        <p:nvSpPr>
          <p:cNvPr id="14" name="Text 12"/>
          <p:cNvSpPr/>
          <p:nvPr/>
        </p:nvSpPr>
        <p:spPr>
          <a:xfrm>
            <a:off x="496119" y="3487341"/>
            <a:ext cx="2411313"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Training &amp; Fine-tuning</a:t>
            </a:r>
            <a:endParaRPr lang="en-US" sz="1350" dirty="0"/>
          </a:p>
        </p:txBody>
      </p:sp>
      <p:sp>
        <p:nvSpPr>
          <p:cNvPr id="15" name="Text 13"/>
          <p:cNvSpPr/>
          <p:nvPr/>
        </p:nvSpPr>
        <p:spPr>
          <a:xfrm>
            <a:off x="496119" y="3793852"/>
            <a:ext cx="4004965" cy="765497"/>
          </a:xfrm>
          <a:prstGeom prst="rect">
            <a:avLst/>
          </a:prstGeom>
          <a:noFill/>
          <a:ln/>
        </p:spPr>
        <p:txBody>
          <a:bodyPr wrap="square" lIns="0" tIns="0" rIns="0" bIns="0" rtlCol="0" anchor="t"/>
          <a:lstStyle/>
          <a:p>
            <a:pPr marL="0" indent="0" algn="l">
              <a:lnSpc>
                <a:spcPct val="133000"/>
              </a:lnSpc>
              <a:spcAft>
                <a:spcPts val="650"/>
              </a:spcAft>
              <a:buNone/>
            </a:pPr>
            <a:r>
              <a:rPr lang="en-US" sz="1100" dirty="0">
                <a:solidFill>
                  <a:srgbClr val="333F70"/>
                </a:solidFill>
                <a:latin typeface="Open Sans" pitchFamily="34" charset="0"/>
                <a:ea typeface="Open Sans" pitchFamily="34" charset="-122"/>
                <a:cs typeface="Open Sans" pitchFamily="34" charset="-120"/>
              </a:rPr>
              <a:t>Initial training (15 epochs) → val_acc ~88%.</a:t>
            </a:r>
            <a:endParaRPr lang="en-US" sz="1100" dirty="0"/>
          </a:p>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Fine-tuning (unfreeze after layer 100) improved val_acc to ~93–94%.</a:t>
            </a:r>
            <a:endParaRPr lang="en-US" sz="1100" dirty="0"/>
          </a:p>
        </p:txBody>
      </p:sp>
      <p:sp>
        <p:nvSpPr>
          <p:cNvPr id="16" name="Text 14"/>
          <p:cNvSpPr/>
          <p:nvPr/>
        </p:nvSpPr>
        <p:spPr>
          <a:xfrm>
            <a:off x="4642842" y="3156496"/>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04</a:t>
            </a:r>
            <a:endParaRPr lang="en-US" sz="1100" dirty="0"/>
          </a:p>
        </p:txBody>
      </p:sp>
      <p:sp>
        <p:nvSpPr>
          <p:cNvPr id="17" name="Shape 15"/>
          <p:cNvSpPr/>
          <p:nvPr/>
        </p:nvSpPr>
        <p:spPr>
          <a:xfrm>
            <a:off x="4642842" y="3378398"/>
            <a:ext cx="4005039" cy="19050"/>
          </a:xfrm>
          <a:prstGeom prst="rect">
            <a:avLst/>
          </a:prstGeom>
          <a:solidFill>
            <a:srgbClr val="26A688"/>
          </a:solidFill>
          <a:ln/>
        </p:spPr>
      </p:sp>
      <p:sp>
        <p:nvSpPr>
          <p:cNvPr id="18" name="Text 16"/>
          <p:cNvSpPr/>
          <p:nvPr/>
        </p:nvSpPr>
        <p:spPr>
          <a:xfrm>
            <a:off x="4642842" y="3487341"/>
            <a:ext cx="2796555"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Evaluation &amp; Deployment</a:t>
            </a:r>
            <a:endParaRPr lang="en-US" sz="1350" dirty="0"/>
          </a:p>
        </p:txBody>
      </p:sp>
      <p:sp>
        <p:nvSpPr>
          <p:cNvPr id="19" name="Text 17"/>
          <p:cNvSpPr/>
          <p:nvPr/>
        </p:nvSpPr>
        <p:spPr>
          <a:xfrm>
            <a:off x="4642842" y="3793852"/>
            <a:ext cx="4005039"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Computed classification report, confusion matrix, exported model, and built Gradio interface for predictions and remedial suggestions.</a:t>
            </a:r>
            <a:endParaRPr lang="en-US" sz="1100" dirty="0"/>
          </a:p>
        </p:txBody>
      </p:sp>
      <p:pic>
        <p:nvPicPr>
          <p:cNvPr id="21" name="Picture 20">
            <a:extLst>
              <a:ext uri="{FF2B5EF4-FFF2-40B4-BE49-F238E27FC236}">
                <a16:creationId xmlns:a16="http://schemas.microsoft.com/office/drawing/2014/main" id="{7C3A1788-DFAE-A523-209A-9BD4473412A9}"/>
              </a:ext>
            </a:extLst>
          </p:cNvPr>
          <p:cNvPicPr>
            <a:picLocks noChangeAspect="1"/>
          </p:cNvPicPr>
          <p:nvPr/>
        </p:nvPicPr>
        <p:blipFill>
          <a:blip r:embed="rId3"/>
          <a:stretch>
            <a:fillRect/>
          </a:stretch>
        </p:blipFill>
        <p:spPr>
          <a:xfrm>
            <a:off x="7212608" y="4358952"/>
            <a:ext cx="1931392" cy="7692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83EA0A-892C-B6C9-8DF1-A0505E3A20AF}"/>
              </a:ext>
            </a:extLst>
          </p:cNvPr>
          <p:cNvPicPr>
            <a:picLocks noChangeAspect="1"/>
          </p:cNvPicPr>
          <p:nvPr/>
        </p:nvPicPr>
        <p:blipFill>
          <a:blip r:embed="rId2"/>
          <a:stretch>
            <a:fillRect/>
          </a:stretch>
        </p:blipFill>
        <p:spPr>
          <a:xfrm>
            <a:off x="7212608" y="4358952"/>
            <a:ext cx="1931392" cy="769283"/>
          </a:xfrm>
          <a:prstGeom prst="rect">
            <a:avLst/>
          </a:prstGeom>
        </p:spPr>
      </p:pic>
      <p:pic>
        <p:nvPicPr>
          <p:cNvPr id="5" name="Picture 4">
            <a:extLst>
              <a:ext uri="{FF2B5EF4-FFF2-40B4-BE49-F238E27FC236}">
                <a16:creationId xmlns:a16="http://schemas.microsoft.com/office/drawing/2014/main" id="{877F946D-957B-4D9C-CFFD-CA0D9D9B73F7}"/>
              </a:ext>
            </a:extLst>
          </p:cNvPr>
          <p:cNvPicPr>
            <a:picLocks noChangeAspect="1"/>
          </p:cNvPicPr>
          <p:nvPr/>
        </p:nvPicPr>
        <p:blipFill>
          <a:blip r:embed="rId3"/>
          <a:stretch>
            <a:fillRect/>
          </a:stretch>
        </p:blipFill>
        <p:spPr>
          <a:xfrm>
            <a:off x="0" y="1539066"/>
            <a:ext cx="9144000" cy="3385188"/>
          </a:xfrm>
          <a:prstGeom prst="rect">
            <a:avLst/>
          </a:prstGeom>
        </p:spPr>
      </p:pic>
      <p:sp>
        <p:nvSpPr>
          <p:cNvPr id="6" name="TextBox 5">
            <a:extLst>
              <a:ext uri="{FF2B5EF4-FFF2-40B4-BE49-F238E27FC236}">
                <a16:creationId xmlns:a16="http://schemas.microsoft.com/office/drawing/2014/main" id="{570639C4-8592-283A-AC1B-B0CD2D170373}"/>
              </a:ext>
            </a:extLst>
          </p:cNvPr>
          <p:cNvSpPr txBox="1"/>
          <p:nvPr/>
        </p:nvSpPr>
        <p:spPr>
          <a:xfrm>
            <a:off x="2904978" y="747374"/>
            <a:ext cx="3334043" cy="646331"/>
          </a:xfrm>
          <a:prstGeom prst="rect">
            <a:avLst/>
          </a:prstGeom>
          <a:noFill/>
        </p:spPr>
        <p:txBody>
          <a:bodyPr wrap="square" rtlCol="0">
            <a:spAutoFit/>
          </a:bodyPr>
          <a:lstStyle/>
          <a:p>
            <a:pPr algn="ctr"/>
            <a:r>
              <a:rPr lang="en-US" sz="3600" b="1" dirty="0">
                <a:solidFill>
                  <a:srgbClr val="333F70"/>
                </a:solidFill>
                <a:latin typeface="Unbounded Bold" pitchFamily="34" charset="0"/>
              </a:rPr>
              <a:t>Layers</a:t>
            </a:r>
            <a:endParaRPr lang="en-IN" sz="3600" b="1" dirty="0">
              <a:solidFill>
                <a:srgbClr val="333F70"/>
              </a:solidFill>
              <a:latin typeface="Unbounded Bold" pitchFamily="34" charset="0"/>
            </a:endParaRPr>
          </a:p>
        </p:txBody>
      </p:sp>
      <p:sp>
        <p:nvSpPr>
          <p:cNvPr id="8" name="Shape 3">
            <a:extLst>
              <a:ext uri="{FF2B5EF4-FFF2-40B4-BE49-F238E27FC236}">
                <a16:creationId xmlns:a16="http://schemas.microsoft.com/office/drawing/2014/main" id="{DE2A6173-A8D9-8EAB-348C-9382B9D6BFCA}"/>
              </a:ext>
            </a:extLst>
          </p:cNvPr>
          <p:cNvSpPr/>
          <p:nvPr/>
        </p:nvSpPr>
        <p:spPr>
          <a:xfrm>
            <a:off x="2569516" y="1419536"/>
            <a:ext cx="4004965" cy="19050"/>
          </a:xfrm>
          <a:prstGeom prst="rect">
            <a:avLst/>
          </a:prstGeom>
          <a:solidFill>
            <a:srgbClr val="26A688"/>
          </a:solidFill>
          <a:ln/>
        </p:spPr>
      </p:sp>
    </p:spTree>
    <p:extLst>
      <p:ext uri="{BB962C8B-B14F-4D97-AF65-F5344CB8AC3E}">
        <p14:creationId xmlns:p14="http://schemas.microsoft.com/office/powerpoint/2010/main" val="3101111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642268"/>
            <a:ext cx="6948041"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Screenshots &amp; Visual Results</a:t>
            </a:r>
            <a:endParaRPr lang="en-US" sz="2750" dirty="0"/>
          </a:p>
        </p:txBody>
      </p:sp>
      <p:sp>
        <p:nvSpPr>
          <p:cNvPr id="3" name="Text 1"/>
          <p:cNvSpPr/>
          <p:nvPr/>
        </p:nvSpPr>
        <p:spPr>
          <a:xfrm>
            <a:off x="496119" y="1368772"/>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 Representative visual outputs from the notebook: class distribution, sample images, training curves, and confusion matrix.   </a:t>
            </a:r>
            <a:endParaRPr lang="en-US" sz="1100" dirty="0"/>
          </a:p>
        </p:txBody>
      </p:sp>
      <p:pic>
        <p:nvPicPr>
          <p:cNvPr id="4" name="Image 0"/>
          <p:cNvPicPr>
            <a:picLocks noChangeAspect="1"/>
          </p:cNvPicPr>
          <p:nvPr/>
        </p:nvPicPr>
        <p:blipFill>
          <a:blip r:embed="rId3"/>
          <a:srcRect/>
          <a:stretch/>
        </p:blipFill>
        <p:spPr>
          <a:xfrm>
            <a:off x="309489" y="1925888"/>
            <a:ext cx="2198269" cy="1805408"/>
          </a:xfrm>
          <a:prstGeom prst="rect">
            <a:avLst/>
          </a:prstGeom>
        </p:spPr>
      </p:pic>
      <p:pic>
        <p:nvPicPr>
          <p:cNvPr id="5" name="Image 1"/>
          <p:cNvPicPr>
            <a:picLocks noChangeAspect="1"/>
          </p:cNvPicPr>
          <p:nvPr/>
        </p:nvPicPr>
        <p:blipFill>
          <a:blip r:embed="rId4"/>
          <a:srcRect/>
          <a:stretch/>
        </p:blipFill>
        <p:spPr>
          <a:xfrm>
            <a:off x="2564608" y="1879103"/>
            <a:ext cx="1950541" cy="1845159"/>
          </a:xfrm>
          <a:prstGeom prst="rect">
            <a:avLst/>
          </a:prstGeom>
        </p:spPr>
      </p:pic>
      <p:pic>
        <p:nvPicPr>
          <p:cNvPr id="6" name="Image 2"/>
          <p:cNvPicPr>
            <a:picLocks noChangeAspect="1"/>
          </p:cNvPicPr>
          <p:nvPr/>
        </p:nvPicPr>
        <p:blipFill>
          <a:blip r:embed="rId5"/>
          <a:srcRect/>
          <a:stretch/>
        </p:blipFill>
        <p:spPr>
          <a:xfrm>
            <a:off x="4571999" y="1918854"/>
            <a:ext cx="2236763" cy="1805408"/>
          </a:xfrm>
          <a:prstGeom prst="rect">
            <a:avLst/>
          </a:prstGeom>
        </p:spPr>
      </p:pic>
      <p:pic>
        <p:nvPicPr>
          <p:cNvPr id="7" name="Image 3"/>
          <p:cNvPicPr>
            <a:picLocks noChangeAspect="1"/>
          </p:cNvPicPr>
          <p:nvPr/>
        </p:nvPicPr>
        <p:blipFill>
          <a:blip r:embed="rId6"/>
          <a:srcRect/>
          <a:stretch/>
        </p:blipFill>
        <p:spPr>
          <a:xfrm>
            <a:off x="6755883" y="1987467"/>
            <a:ext cx="1950541" cy="1733814"/>
          </a:xfrm>
          <a:prstGeom prst="rect">
            <a:avLst/>
          </a:prstGeom>
        </p:spPr>
      </p:pic>
      <p:sp>
        <p:nvSpPr>
          <p:cNvPr id="8" name="Text 2"/>
          <p:cNvSpPr/>
          <p:nvPr/>
        </p:nvSpPr>
        <p:spPr>
          <a:xfrm>
            <a:off x="496119" y="4047530"/>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 Notes: Training curves show convergence after augmentation and fine-tuning; confusion matrix highlights a few confusable tomato classes to target for future data collection.</a:t>
            </a:r>
            <a:endParaRPr lang="en-US" sz="1100" dirty="0"/>
          </a:p>
        </p:txBody>
      </p:sp>
      <p:pic>
        <p:nvPicPr>
          <p:cNvPr id="10" name="Picture 9">
            <a:extLst>
              <a:ext uri="{FF2B5EF4-FFF2-40B4-BE49-F238E27FC236}">
                <a16:creationId xmlns:a16="http://schemas.microsoft.com/office/drawing/2014/main" id="{7B4BB63A-5429-B73D-8613-DE0A0B68A345}"/>
              </a:ext>
            </a:extLst>
          </p:cNvPr>
          <p:cNvPicPr>
            <a:picLocks noChangeAspect="1"/>
          </p:cNvPicPr>
          <p:nvPr/>
        </p:nvPicPr>
        <p:blipFill>
          <a:blip r:embed="rId7"/>
          <a:stretch>
            <a:fillRect/>
          </a:stretch>
        </p:blipFill>
        <p:spPr>
          <a:xfrm>
            <a:off x="7212608" y="4351918"/>
            <a:ext cx="1931392" cy="7692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578248"/>
          </a:xfrm>
          <a:prstGeom prst="rect">
            <a:avLst/>
          </a:prstGeom>
        </p:spPr>
      </p:pic>
      <p:sp>
        <p:nvSpPr>
          <p:cNvPr id="3" name="Text 0"/>
          <p:cNvSpPr/>
          <p:nvPr/>
        </p:nvSpPr>
        <p:spPr>
          <a:xfrm>
            <a:off x="496119" y="1984697"/>
            <a:ext cx="3613696" cy="394543"/>
          </a:xfrm>
          <a:prstGeom prst="rect">
            <a:avLst/>
          </a:prstGeom>
          <a:noFill/>
          <a:ln/>
        </p:spPr>
        <p:txBody>
          <a:bodyPr wrap="none" lIns="0" tIns="0" rIns="0" bIns="0" rtlCol="0" anchor="t"/>
          <a:lstStyle/>
          <a:p>
            <a:pPr marL="0" indent="0" algn="l">
              <a:lnSpc>
                <a:spcPct val="104000"/>
              </a:lnSpc>
              <a:buNone/>
            </a:pPr>
            <a:r>
              <a:rPr lang="en-US" sz="2450" b="1" dirty="0">
                <a:solidFill>
                  <a:srgbClr val="333F70"/>
                </a:solidFill>
                <a:latin typeface="Unbounded Bold" pitchFamily="34" charset="0"/>
                <a:ea typeface="Unbounded Bold" pitchFamily="34" charset="-122"/>
                <a:cs typeface="Unbounded Bold" pitchFamily="34" charset="-120"/>
              </a:rPr>
              <a:t>Future Scope</a:t>
            </a:r>
            <a:endParaRPr lang="en-US" sz="2450" dirty="0"/>
          </a:p>
        </p:txBody>
      </p:sp>
      <p:sp>
        <p:nvSpPr>
          <p:cNvPr id="4" name="Text 1"/>
          <p:cNvSpPr/>
          <p:nvPr/>
        </p:nvSpPr>
        <p:spPr>
          <a:xfrm>
            <a:off x="496119" y="2547863"/>
            <a:ext cx="8608963" cy="190946"/>
          </a:xfrm>
          <a:prstGeom prst="rect">
            <a:avLst/>
          </a:prstGeom>
          <a:noFill/>
          <a:ln/>
        </p:spPr>
        <p:txBody>
          <a:bodyPr wrap="none" lIns="0" tIns="0" rIns="0" bIns="0" rtlCol="0" anchor="t"/>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Building on current achievements, our future work will focus on expanding the model's capabilities and practical utility.</a:t>
            </a:r>
            <a:endParaRPr lang="en-US" sz="9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865313"/>
            <a:ext cx="1953592" cy="1871737"/>
          </a:xfrm>
          <a:prstGeom prst="rect">
            <a:avLst/>
          </a:prstGeom>
        </p:spPr>
      </p:pic>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8223" y="2971874"/>
            <a:ext cx="189384" cy="189384"/>
          </a:xfrm>
          <a:prstGeom prst="rect">
            <a:avLst/>
          </a:prstGeom>
        </p:spPr>
      </p:pic>
      <p:sp>
        <p:nvSpPr>
          <p:cNvPr id="7" name="Text 2"/>
          <p:cNvSpPr/>
          <p:nvPr/>
        </p:nvSpPr>
        <p:spPr>
          <a:xfrm>
            <a:off x="636612" y="3370808"/>
            <a:ext cx="1578248"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Data Expansion</a:t>
            </a:r>
            <a:endParaRPr lang="en-US" sz="1200" dirty="0"/>
          </a:p>
        </p:txBody>
      </p:sp>
      <p:sp>
        <p:nvSpPr>
          <p:cNvPr id="8" name="Text 3"/>
          <p:cNvSpPr/>
          <p:nvPr/>
        </p:nvSpPr>
        <p:spPr>
          <a:xfrm>
            <a:off x="636612" y="3635499"/>
            <a:ext cx="1672605" cy="763786"/>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Augment dataset with more plant species, varied disease stages, and diverse environmental conditions.</a:t>
            </a:r>
            <a:endParaRPr lang="en-US" sz="95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2151" y="2865313"/>
            <a:ext cx="1953592" cy="1871737"/>
          </a:xfrm>
          <a:prstGeom prst="rect">
            <a:avLst/>
          </a:prstGeom>
        </p:spPr>
      </p:pic>
      <p:pic>
        <p:nvPicPr>
          <p:cNvPr id="10"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44255" y="2971874"/>
            <a:ext cx="189384" cy="189384"/>
          </a:xfrm>
          <a:prstGeom prst="rect">
            <a:avLst/>
          </a:prstGeom>
        </p:spPr>
      </p:pic>
      <p:sp>
        <p:nvSpPr>
          <p:cNvPr id="11" name="Text 4"/>
          <p:cNvSpPr/>
          <p:nvPr/>
        </p:nvSpPr>
        <p:spPr>
          <a:xfrm>
            <a:off x="2702644" y="3370808"/>
            <a:ext cx="1672605" cy="394543"/>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Edge Optimization</a:t>
            </a:r>
            <a:endParaRPr lang="en-US" sz="1200" dirty="0"/>
          </a:p>
        </p:txBody>
      </p:sp>
      <p:sp>
        <p:nvSpPr>
          <p:cNvPr id="12" name="Text 5"/>
          <p:cNvSpPr/>
          <p:nvPr/>
        </p:nvSpPr>
        <p:spPr>
          <a:xfrm>
            <a:off x="2702644" y="3832771"/>
            <a:ext cx="1672605" cy="763786"/>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Optimize model for deployment on low-power edge devices through quantization and pruning.</a:t>
            </a:r>
            <a:endParaRPr lang="en-US" sz="950" dirty="0"/>
          </a:p>
        </p:txBody>
      </p:sp>
      <p:pic>
        <p:nvPicPr>
          <p:cNvPr id="13"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8183" y="2865313"/>
            <a:ext cx="1953592" cy="1871737"/>
          </a:xfrm>
          <a:prstGeom prst="rect">
            <a:avLst/>
          </a:prstGeom>
        </p:spPr>
      </p:pic>
      <p:pic>
        <p:nvPicPr>
          <p:cNvPr id="14"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10287" y="2971874"/>
            <a:ext cx="189384" cy="189384"/>
          </a:xfrm>
          <a:prstGeom prst="rect">
            <a:avLst/>
          </a:prstGeom>
        </p:spPr>
      </p:pic>
      <p:sp>
        <p:nvSpPr>
          <p:cNvPr id="15" name="Text 6"/>
          <p:cNvSpPr/>
          <p:nvPr/>
        </p:nvSpPr>
        <p:spPr>
          <a:xfrm>
            <a:off x="4768676" y="3370808"/>
            <a:ext cx="1661815" cy="197272"/>
          </a:xfrm>
          <a:prstGeom prst="rect">
            <a:avLst/>
          </a:prstGeom>
          <a:noFill/>
          <a:ln/>
        </p:spPr>
        <p:txBody>
          <a:bodyPr wrap="none" lIns="0" tIns="0" rIns="0" bIns="0" rtlCol="0" anchor="t"/>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Advanced Vision</a:t>
            </a:r>
            <a:endParaRPr lang="en-US" sz="1200" dirty="0"/>
          </a:p>
        </p:txBody>
      </p:sp>
      <p:sp>
        <p:nvSpPr>
          <p:cNvPr id="16" name="Text 7"/>
          <p:cNvSpPr/>
          <p:nvPr/>
        </p:nvSpPr>
        <p:spPr>
          <a:xfrm>
            <a:off x="4768676" y="3635499"/>
            <a:ext cx="1672605" cy="763786"/>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Implement object detection to localize diseased areas and explore disease progression tracking.</a:t>
            </a:r>
            <a:endParaRPr lang="en-US" sz="950" dirty="0"/>
          </a:p>
        </p:txBody>
      </p:sp>
      <p:pic>
        <p:nvPicPr>
          <p:cNvPr id="17"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94215" y="2865313"/>
            <a:ext cx="1953667" cy="1871737"/>
          </a:xfrm>
          <a:prstGeom prst="rect">
            <a:avLst/>
          </a:prstGeom>
        </p:spPr>
      </p:pic>
      <p:pic>
        <p:nvPicPr>
          <p:cNvPr id="18" name="Image 8"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76319" y="2971874"/>
            <a:ext cx="189384" cy="189384"/>
          </a:xfrm>
          <a:prstGeom prst="rect">
            <a:avLst/>
          </a:prstGeom>
        </p:spPr>
      </p:pic>
      <p:sp>
        <p:nvSpPr>
          <p:cNvPr id="19" name="Text 8"/>
          <p:cNvSpPr/>
          <p:nvPr/>
        </p:nvSpPr>
        <p:spPr>
          <a:xfrm>
            <a:off x="6834708" y="3370808"/>
            <a:ext cx="1672679" cy="394543"/>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333F70"/>
                </a:solidFill>
                <a:latin typeface="Unbounded Bold" pitchFamily="34" charset="0"/>
                <a:ea typeface="Unbounded Bold" pitchFamily="34" charset="-122"/>
                <a:cs typeface="Unbounded Bold" pitchFamily="34" charset="-120"/>
              </a:rPr>
              <a:t>System Integration</a:t>
            </a:r>
            <a:endParaRPr lang="en-US" sz="1200" dirty="0"/>
          </a:p>
        </p:txBody>
      </p:sp>
      <p:sp>
        <p:nvSpPr>
          <p:cNvPr id="20" name="Text 9"/>
          <p:cNvSpPr/>
          <p:nvPr/>
        </p:nvSpPr>
        <p:spPr>
          <a:xfrm>
            <a:off x="6834708" y="3832771"/>
            <a:ext cx="1672679" cy="763786"/>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333F70"/>
                </a:solidFill>
                <a:latin typeface="Open Sans" pitchFamily="34" charset="0"/>
                <a:ea typeface="Open Sans" pitchFamily="34" charset="-122"/>
                <a:cs typeface="Open Sans" pitchFamily="34" charset="-120"/>
              </a:rPr>
              <a:t>Develop real-time feedback and integrate with precision agriculture platforms for actionable insights.</a:t>
            </a:r>
            <a:endParaRPr lang="en-US" sz="950" dirty="0"/>
          </a:p>
        </p:txBody>
      </p:sp>
      <p:pic>
        <p:nvPicPr>
          <p:cNvPr id="22" name="Picture 21">
            <a:extLst>
              <a:ext uri="{FF2B5EF4-FFF2-40B4-BE49-F238E27FC236}">
                <a16:creationId xmlns:a16="http://schemas.microsoft.com/office/drawing/2014/main" id="{D09B8F91-43AF-E94C-7407-35FA06164CEC}"/>
              </a:ext>
            </a:extLst>
          </p:cNvPr>
          <p:cNvPicPr>
            <a:picLocks noChangeAspect="1"/>
          </p:cNvPicPr>
          <p:nvPr/>
        </p:nvPicPr>
        <p:blipFill>
          <a:blip r:embed="rId9"/>
          <a:stretch>
            <a:fillRect/>
          </a:stretch>
        </p:blipFill>
        <p:spPr>
          <a:xfrm>
            <a:off x="7212608" y="4797436"/>
            <a:ext cx="1931392" cy="3237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799951"/>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Bibliography</a:t>
            </a:r>
            <a:endParaRPr lang="en-US" sz="2750" dirty="0"/>
          </a:p>
        </p:txBody>
      </p:sp>
      <p:sp>
        <p:nvSpPr>
          <p:cNvPr id="3" name="Text 1"/>
          <p:cNvSpPr/>
          <p:nvPr/>
        </p:nvSpPr>
        <p:spPr>
          <a:xfrm>
            <a:off x="496119" y="1526456"/>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 Key references and resources used during the project.   </a:t>
            </a:r>
            <a:endParaRPr lang="en-US" sz="1100" dirty="0"/>
          </a:p>
        </p:txBody>
      </p:sp>
      <p:sp>
        <p:nvSpPr>
          <p:cNvPr id="4" name="Text 2"/>
          <p:cNvSpPr/>
          <p:nvPr/>
        </p:nvSpPr>
        <p:spPr>
          <a:xfrm>
            <a:off x="496119" y="1912739"/>
            <a:ext cx="8151763" cy="1332309"/>
          </a:xfrm>
          <a:prstGeom prst="rect">
            <a:avLst/>
          </a:prstGeom>
          <a:noFill/>
          <a:ln/>
        </p:spPr>
        <p:txBody>
          <a:bodyPr wrap="square" lIns="0" tIns="0" rIns="0" bIns="0" rtlCol="0" anchor="t">
            <a:normAutofit/>
          </a:bodyPr>
          <a:lstStyle/>
          <a:p>
            <a:pPr marL="228600" indent="-228600">
              <a:lnSpc>
                <a:spcPct val="133000"/>
              </a:lnSpc>
              <a:buSzPct val="100000"/>
              <a:buFont typeface="+mj-lt"/>
              <a:buAutoNum type="arabicPeriod"/>
            </a:pPr>
            <a:r>
              <a:rPr lang="en-IN" sz="1100" dirty="0">
                <a:solidFill>
                  <a:srgbClr val="333F70"/>
                </a:solidFill>
                <a:latin typeface="Open Sans" pitchFamily="34" charset="0"/>
                <a:ea typeface="Open Sans" pitchFamily="34" charset="-122"/>
                <a:cs typeface="Open Sans" pitchFamily="34" charset="-120"/>
              </a:rPr>
              <a:t>Using Deep Learning for Image-Based Plant Disease Detection - Sharada P. Mohanty, et al.</a:t>
            </a:r>
          </a:p>
          <a:p>
            <a:pPr marL="228600" indent="-228600">
              <a:lnSpc>
                <a:spcPct val="133000"/>
              </a:lnSpc>
              <a:buSzPct val="100000"/>
              <a:buFont typeface="+mj-lt"/>
              <a:buAutoNum type="arabicPeriod"/>
            </a:pPr>
            <a:r>
              <a:rPr lang="en-IN" sz="1100" dirty="0">
                <a:solidFill>
                  <a:srgbClr val="333F70"/>
                </a:solidFill>
                <a:latin typeface="Open Sans" pitchFamily="34" charset="0"/>
                <a:ea typeface="Open Sans" pitchFamily="34" charset="-122"/>
                <a:cs typeface="Open Sans" pitchFamily="34" charset="-120"/>
              </a:rPr>
              <a:t>Survey of Accuracy Prediction on the </a:t>
            </a:r>
            <a:r>
              <a:rPr lang="en-IN" sz="1100" dirty="0" err="1">
                <a:solidFill>
                  <a:srgbClr val="333F70"/>
                </a:solidFill>
                <a:latin typeface="Open Sans" pitchFamily="34" charset="0"/>
                <a:ea typeface="Open Sans" pitchFamily="34" charset="-122"/>
                <a:cs typeface="Open Sans" pitchFamily="34" charset="-120"/>
              </a:rPr>
              <a:t>PlantVillage</a:t>
            </a:r>
            <a:r>
              <a:rPr lang="en-IN" sz="1100" dirty="0">
                <a:solidFill>
                  <a:srgbClr val="333F70"/>
                </a:solidFill>
                <a:latin typeface="Open Sans" pitchFamily="34" charset="0"/>
                <a:ea typeface="Open Sans" pitchFamily="34" charset="-122"/>
                <a:cs typeface="Open Sans" pitchFamily="34" charset="-120"/>
              </a:rPr>
              <a:t> Dataset Using Different ML Techniques - V. Pandey, et al.</a:t>
            </a:r>
            <a:endParaRPr lang="en-US" sz="1100" dirty="0">
              <a:solidFill>
                <a:srgbClr val="333F70"/>
              </a:solidFill>
              <a:latin typeface="Open Sans" pitchFamily="34" charset="0"/>
              <a:ea typeface="Open Sans" pitchFamily="34" charset="-122"/>
              <a:cs typeface="Open Sans" pitchFamily="34" charset="-120"/>
            </a:endParaRPr>
          </a:p>
          <a:p>
            <a:pPr marL="228600" indent="-228600" algn="l">
              <a:lnSpc>
                <a:spcPct val="133000"/>
              </a:lnSpc>
              <a:buSzPct val="100000"/>
              <a:buFont typeface="+mj-lt"/>
              <a:buAutoNum type="arabicPeriod"/>
            </a:pPr>
            <a:r>
              <a:rPr lang="en-US" sz="1100" dirty="0">
                <a:solidFill>
                  <a:srgbClr val="333F70"/>
                </a:solidFill>
                <a:latin typeface="Open Sans" pitchFamily="34" charset="0"/>
                <a:ea typeface="Open Sans" pitchFamily="34" charset="-122"/>
                <a:cs typeface="Open Sans" pitchFamily="34" charset="-120"/>
              </a:rPr>
              <a:t>Hughes, D. P., &amp; Salathé, M. (2015). An open access repository of images for plant disease. arXiv.</a:t>
            </a:r>
            <a:endParaRPr lang="en-US" sz="1100" dirty="0"/>
          </a:p>
          <a:p>
            <a:pPr marL="228600" indent="-228600" algn="l">
              <a:lnSpc>
                <a:spcPct val="133000"/>
              </a:lnSpc>
              <a:buSzPct val="100000"/>
              <a:buFont typeface="+mj-lt"/>
              <a:buAutoNum type="arabicPeriod"/>
            </a:pPr>
            <a:r>
              <a:rPr lang="en-US" sz="1100" dirty="0">
                <a:solidFill>
                  <a:srgbClr val="333F70"/>
                </a:solidFill>
                <a:latin typeface="Open Sans" pitchFamily="34" charset="0"/>
                <a:ea typeface="Open Sans" pitchFamily="34" charset="-122"/>
                <a:cs typeface="Open Sans" pitchFamily="34" charset="-120"/>
              </a:rPr>
              <a:t>TensorFlow Documentation — Transfer learning with tf.keras.</a:t>
            </a:r>
            <a:endParaRPr lang="en-US" sz="1100" dirty="0"/>
          </a:p>
          <a:p>
            <a:pPr marL="228600" indent="-228600" algn="l">
              <a:lnSpc>
                <a:spcPct val="133000"/>
              </a:lnSpc>
              <a:buSzPct val="100000"/>
              <a:buFont typeface="+mj-lt"/>
              <a:buAutoNum type="arabicPeriod"/>
            </a:pPr>
            <a:r>
              <a:rPr lang="en-US" sz="1100" dirty="0">
                <a:solidFill>
                  <a:srgbClr val="333F70"/>
                </a:solidFill>
                <a:latin typeface="Open Sans" pitchFamily="34" charset="0"/>
                <a:ea typeface="Open Sans" pitchFamily="34" charset="-122"/>
                <a:cs typeface="Open Sans" pitchFamily="34" charset="-120"/>
              </a:rPr>
              <a:t>Chollet, F. (2017). Deep Learning with Python. Manning Publications.</a:t>
            </a:r>
            <a:endParaRPr lang="en-US" sz="1100" dirty="0"/>
          </a:p>
          <a:p>
            <a:pPr>
              <a:lnSpc>
                <a:spcPct val="133000"/>
              </a:lnSpc>
              <a:buSzPct val="100000"/>
            </a:pPr>
            <a:endParaRPr lang="en-US" sz="1100" dirty="0"/>
          </a:p>
        </p:txBody>
      </p:sp>
      <p:sp>
        <p:nvSpPr>
          <p:cNvPr id="5" name="Shape 3"/>
          <p:cNvSpPr/>
          <p:nvPr/>
        </p:nvSpPr>
        <p:spPr>
          <a:xfrm>
            <a:off x="496119" y="3404518"/>
            <a:ext cx="8151763" cy="779562"/>
          </a:xfrm>
          <a:prstGeom prst="roundRect">
            <a:avLst>
              <a:gd name="adj" fmla="val 7638"/>
            </a:avLst>
          </a:prstGeom>
          <a:solidFill>
            <a:srgbClr val="B6D6FC"/>
          </a:solidFill>
          <a:ln/>
        </p:spPr>
      </p:sp>
      <p:pic>
        <p:nvPicPr>
          <p:cNvPr id="6" name="Image 0" descr="preencoded.png"/>
          <p:cNvPicPr>
            <a:picLocks noChangeAspect="1"/>
          </p:cNvPicPr>
          <p:nvPr/>
        </p:nvPicPr>
        <p:blipFill>
          <a:blip r:embed="rId3"/>
          <a:stretch>
            <a:fillRect/>
          </a:stretch>
        </p:blipFill>
        <p:spPr>
          <a:xfrm>
            <a:off x="637877" y="3605287"/>
            <a:ext cx="177180" cy="141759"/>
          </a:xfrm>
          <a:prstGeom prst="rect">
            <a:avLst/>
          </a:prstGeom>
        </p:spPr>
      </p:pic>
      <p:sp>
        <p:nvSpPr>
          <p:cNvPr id="7" name="Text 4"/>
          <p:cNvSpPr/>
          <p:nvPr/>
        </p:nvSpPr>
        <p:spPr>
          <a:xfrm>
            <a:off x="956816" y="3567485"/>
            <a:ext cx="754930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Open Sans" pitchFamily="34" charset="0"/>
                <a:ea typeface="Open Sans" pitchFamily="34" charset="-122"/>
                <a:cs typeface="Open Sans" pitchFamily="34" charset="-120"/>
              </a:rPr>
              <a:t> For reproducibility: All code snippets referenced in the notebook (data loading, model definition, training loop, evaluation, and Gradio interface) were executed in the provided Jupyter notebook.</a:t>
            </a:r>
            <a:endParaRPr lang="en-US" sz="1100" dirty="0"/>
          </a:p>
        </p:txBody>
      </p:sp>
      <p:pic>
        <p:nvPicPr>
          <p:cNvPr id="9" name="Picture 8">
            <a:extLst>
              <a:ext uri="{FF2B5EF4-FFF2-40B4-BE49-F238E27FC236}">
                <a16:creationId xmlns:a16="http://schemas.microsoft.com/office/drawing/2014/main" id="{D35BB59F-07E9-DC0F-940F-BFCAFF4A04F3}"/>
              </a:ext>
            </a:extLst>
          </p:cNvPr>
          <p:cNvPicPr>
            <a:picLocks noChangeAspect="1"/>
          </p:cNvPicPr>
          <p:nvPr/>
        </p:nvPicPr>
        <p:blipFill>
          <a:blip r:embed="rId4"/>
          <a:stretch>
            <a:fillRect/>
          </a:stretch>
        </p:blipFill>
        <p:spPr>
          <a:xfrm>
            <a:off x="7212608" y="4351918"/>
            <a:ext cx="1931392" cy="7692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571304" y="2350219"/>
            <a:ext cx="4001319" cy="442987"/>
          </a:xfrm>
          <a:prstGeom prst="rect">
            <a:avLst/>
          </a:prstGeom>
          <a:noFill/>
          <a:ln/>
        </p:spPr>
        <p:txBody>
          <a:bodyPr wrap="none" lIns="0" tIns="0" rIns="0" bIns="0" rtlCol="0" anchor="t"/>
          <a:lstStyle/>
          <a:p>
            <a:pPr marL="0" indent="0" algn="ctr">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Thank You</a:t>
            </a:r>
            <a:endParaRPr lang="en-US" sz="2750" dirty="0"/>
          </a:p>
        </p:txBody>
      </p:sp>
      <p:pic>
        <p:nvPicPr>
          <p:cNvPr id="7" name="Picture 6">
            <a:extLst>
              <a:ext uri="{FF2B5EF4-FFF2-40B4-BE49-F238E27FC236}">
                <a16:creationId xmlns:a16="http://schemas.microsoft.com/office/drawing/2014/main" id="{FE073379-CB1C-1839-29A0-EB769215627D}"/>
              </a:ext>
            </a:extLst>
          </p:cNvPr>
          <p:cNvPicPr>
            <a:picLocks noChangeAspect="1"/>
          </p:cNvPicPr>
          <p:nvPr/>
        </p:nvPicPr>
        <p:blipFill>
          <a:blip r:embed="rId3"/>
          <a:stretch>
            <a:fillRect/>
          </a:stretch>
        </p:blipFill>
        <p:spPr>
          <a:xfrm>
            <a:off x="8039686" y="4776958"/>
            <a:ext cx="1104314" cy="3524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743</Words>
  <Application>Microsoft Office PowerPoint</Application>
  <PresentationFormat>On-screen Show (16:9)</PresentationFormat>
  <Paragraphs>91</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Trebuchet MS</vt:lpstr>
      <vt:lpstr>Open Sans</vt:lpstr>
      <vt:lpstr>Unbounded Bold</vt:lpstr>
      <vt:lpstr>Agency FB</vt:lpstr>
      <vt:lpstr>Unbounded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Sudeep Sarkar</cp:lastModifiedBy>
  <cp:revision>7</cp:revision>
  <dcterms:created xsi:type="dcterms:W3CDTF">2026-06-18T18:37:41Z</dcterms:created>
  <dcterms:modified xsi:type="dcterms:W3CDTF">2026-09-06T14:38:18Z</dcterms:modified>
</cp:coreProperties>
</file>